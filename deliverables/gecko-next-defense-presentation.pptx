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d3c3c472484109" /><Relationship Type="http://schemas.openxmlformats.org/officeDocument/2006/relationships/extended-properties" Target="/docProps/app.xml" Id="R7957d526e31a486f" /><Relationship Type="http://schemas.openxmlformats.org/officeDocument/2006/relationships/officeDocument" Target="/ppt/presentation.xml" Id="R0b0a1cba34aa49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87cc94b6af431f"/>
  </p:sldMasterIdLst>
  <p:notesMasterIdLst>
    <p:notesMasterId xmlns:r="http://schemas.openxmlformats.org/officeDocument/2006/relationships" r:id="R585d5b2b910442cb"/>
  </p:notesMasterIdLst>
  <p:sldIdLst>
    <p:sldId xmlns:r="http://schemas.openxmlformats.org/officeDocument/2006/relationships" id="256" r:id="Re97a8f6588d44e40"/>
    <p:sldId xmlns:r="http://schemas.openxmlformats.org/officeDocument/2006/relationships" id="257" r:id="R50af444911d541a1"/>
    <p:sldId xmlns:r="http://schemas.openxmlformats.org/officeDocument/2006/relationships" id="258" r:id="Rabfbd5dd20094895"/>
    <p:sldId xmlns:r="http://schemas.openxmlformats.org/officeDocument/2006/relationships" id="259" r:id="Re027e88a5db64faa"/>
    <p:sldId xmlns:r="http://schemas.openxmlformats.org/officeDocument/2006/relationships" id="260" r:id="R4945d897319548ae"/>
    <p:sldId xmlns:r="http://schemas.openxmlformats.org/officeDocument/2006/relationships" id="261" r:id="Rf5090d0c07ae4a4e"/>
    <p:sldId xmlns:r="http://schemas.openxmlformats.org/officeDocument/2006/relationships" id="262" r:id="R11c0e11e37f847fc"/>
    <p:sldId xmlns:r="http://schemas.openxmlformats.org/officeDocument/2006/relationships" id="263" r:id="R47c8e7d20cca4d68"/>
    <p:sldId xmlns:r="http://schemas.openxmlformats.org/officeDocument/2006/relationships" id="264" r:id="R431232ae081d4cce"/>
    <p:sldId xmlns:r="http://schemas.openxmlformats.org/officeDocument/2006/relationships" id="265" r:id="R48cddc0198994e3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d724dd94734998" /><Relationship Type="http://schemas.openxmlformats.org/officeDocument/2006/relationships/slideMaster" Target="/ppt/slideMasters/slideMaster1.xml" Id="R5a87cc94b6af431f" /><Relationship Type="http://schemas.openxmlformats.org/officeDocument/2006/relationships/notesMaster" Target="/ppt/notesMasters/notesMaster1.xml" Id="R585d5b2b910442cb" /><Relationship Type="http://schemas.openxmlformats.org/officeDocument/2006/relationships/presProps" Target="/ppt/presProps.xml" Id="R0e4ae5e6f2c54106" /><Relationship Type="http://schemas.openxmlformats.org/officeDocument/2006/relationships/tableStyles" Target="/ppt/tableStyles.xml" Id="Rebd33921559f4b02" /><Relationship Type="http://schemas.openxmlformats.org/officeDocument/2006/relationships/slide" Target="/ppt/slides/slide1.xml" Id="Re97a8f6588d44e40" /><Relationship Type="http://schemas.openxmlformats.org/officeDocument/2006/relationships/slide" Target="/ppt/slides/slide2.xml" Id="R50af444911d541a1" /><Relationship Type="http://schemas.openxmlformats.org/officeDocument/2006/relationships/slide" Target="/ppt/slides/slide3.xml" Id="Rabfbd5dd20094895" /><Relationship Type="http://schemas.openxmlformats.org/officeDocument/2006/relationships/slide" Target="/ppt/slides/slide4.xml" Id="Re027e88a5db64faa" /><Relationship Type="http://schemas.openxmlformats.org/officeDocument/2006/relationships/slide" Target="/ppt/slides/slide5.xml" Id="R4945d897319548ae" /><Relationship Type="http://schemas.openxmlformats.org/officeDocument/2006/relationships/slide" Target="/ppt/slides/slide6.xml" Id="Rf5090d0c07ae4a4e" /><Relationship Type="http://schemas.openxmlformats.org/officeDocument/2006/relationships/slide" Target="/ppt/slides/slide7.xml" Id="R11c0e11e37f847fc" /><Relationship Type="http://schemas.openxmlformats.org/officeDocument/2006/relationships/slide" Target="/ppt/slides/slide8.xml" Id="R47c8e7d20cca4d68" /><Relationship Type="http://schemas.openxmlformats.org/officeDocument/2006/relationships/slide" Target="/ppt/slides/slide9.xml" Id="R431232ae081d4cce" /><Relationship Type="http://schemas.openxmlformats.org/officeDocument/2006/relationships/slide" Target="/ppt/slides/slide10.xml" Id="R48cddc0198994e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88a874c0ff47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28ea93c2a24a40" /><Relationship Type="http://schemas.openxmlformats.org/officeDocument/2006/relationships/notesMaster" Target="/ppt/notesMasters/notesMaster1.xml" Id="R82832269ac9a49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02624e9d684658" /><Relationship Type="http://schemas.openxmlformats.org/officeDocument/2006/relationships/notesMaster" Target="/ppt/notesMasters/notesMaster1.xml" Id="R44a5f717ac3f42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abdf00face410b" /><Relationship Type="http://schemas.openxmlformats.org/officeDocument/2006/relationships/notesMaster" Target="/ppt/notesMasters/notesMaster1.xml" Id="R23b5ef1c5db84f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1a00272dc4498d" /><Relationship Type="http://schemas.openxmlformats.org/officeDocument/2006/relationships/notesMaster" Target="/ppt/notesMasters/notesMaster1.xml" Id="R6d7a52cf93014b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ff77e02311444c" /><Relationship Type="http://schemas.openxmlformats.org/officeDocument/2006/relationships/notesMaster" Target="/ppt/notesMasters/notesMaster1.xml" Id="R09b1949406db4e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4eb2909523403b" /><Relationship Type="http://schemas.openxmlformats.org/officeDocument/2006/relationships/notesMaster" Target="/ppt/notesMasters/notesMaster1.xml" Id="R0115b401d01a49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ad3cae7cba43bf" /><Relationship Type="http://schemas.openxmlformats.org/officeDocument/2006/relationships/notesMaster" Target="/ppt/notesMasters/notesMaster1.xml" Id="Rc977da42be8b4b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6ccd2753b74462" /><Relationship Type="http://schemas.openxmlformats.org/officeDocument/2006/relationships/notesMaster" Target="/ppt/notesMasters/notesMaster1.xml" Id="Rfd3e049b232546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59141a35544fb2" /><Relationship Type="http://schemas.openxmlformats.org/officeDocument/2006/relationships/notesMaster" Target="/ppt/notesMasters/notesMaster1.xml" Id="R37c20176cc724c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085850ddc64ac9" /><Relationship Type="http://schemas.openxmlformats.org/officeDocument/2006/relationships/notesMaster" Target="/ppt/notesMasters/notesMaster1.xml" Id="R3f4e1c48cb5844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56c37cd9340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2281f847134c32" /><Relationship Type="http://schemas.openxmlformats.org/officeDocument/2006/relationships/slideLayout" Target="/ppt/slideLayouts/slideLayout1.xml" Id="R9596cbd5dab145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96cbd5dab145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53dfaa5a3742e5" /><Relationship Type="http://schemas.openxmlformats.org/officeDocument/2006/relationships/notesSlide" Target="/ppt/notesSlides/notesSlide1.xml" Id="R35999d292f2e40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5c4b8f1564a38" /><Relationship Type="http://schemas.openxmlformats.org/officeDocument/2006/relationships/notesSlide" Target="/ppt/notesSlides/notesSlide2.xml" Id="Rf45da3106e874e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3b073077e4fbc" /><Relationship Type="http://schemas.openxmlformats.org/officeDocument/2006/relationships/image" Target="/ppt/media/image.png" Id="R0677dd362c3c49e6" /><Relationship Type="http://schemas.openxmlformats.org/officeDocument/2006/relationships/notesSlide" Target="/ppt/notesSlides/notesSlide3.xml" Id="R34232f2b53f244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e110c21a04255" /><Relationship Type="http://schemas.openxmlformats.org/officeDocument/2006/relationships/image" Target="/ppt/media/image2.png" Id="Rd8ce35db91d84d3f" /><Relationship Type="http://schemas.openxmlformats.org/officeDocument/2006/relationships/notesSlide" Target="/ppt/notesSlides/notesSlide4.xml" Id="R9340c83ec2ad49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9da4bf887421e" /><Relationship Type="http://schemas.openxmlformats.org/officeDocument/2006/relationships/notesSlide" Target="/ppt/notesSlides/notesSlide5.xml" Id="R27b52a89b3e344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05ffc7e5c4b98" /><Relationship Type="http://schemas.openxmlformats.org/officeDocument/2006/relationships/notesSlide" Target="/ppt/notesSlides/notesSlide6.xml" Id="Re72aa9bbd6ef4d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9d79161a046a7" /><Relationship Type="http://schemas.openxmlformats.org/officeDocument/2006/relationships/chart" Target="/ppt/slides/charts/chart1.xml" Id="Rd434dbc345714178" /><Relationship Type="http://schemas.openxmlformats.org/officeDocument/2006/relationships/notesSlide" Target="/ppt/notesSlides/notesSlide7.xml" Id="R1c153efc2f314a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2726b7b2c4967" /><Relationship Type="http://schemas.openxmlformats.org/officeDocument/2006/relationships/notesSlide" Target="/ppt/notesSlides/notesSlide8.xml" Id="Rd2eb5593c4df49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718674ef94046" /><Relationship Type="http://schemas.openxmlformats.org/officeDocument/2006/relationships/notesSlide" Target="/ppt/notesSlides/notesSlide9.xml" Id="Rad0f25e4d97840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7bd498f03425e" /><Relationship Type="http://schemas.openxmlformats.org/officeDocument/2006/relationships/notesSlide" Target="/ppt/notesSlides/notesSlide10.xml" Id="R5ffb09b109fd464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Покрытие</c:v>
          </c:tx>
          <c:spPr>
            <a:solidFill xmlns:a="http://schemas.openxmlformats.org/drawingml/2006/main">
              <a:srgbClr val="168F86"/>
            </a:solidFill>
          </c:spPr>
          <c:dLbls/>
          <c:cat>
            <c:strLit>
              <c:ptCount val="5"/>
              <c:pt idx="0">
                <c:v>Импорт</c:v>
              </c:pt>
              <c:pt idx="1">
                <c:v>Сегменты</c:v>
              </c:pt>
              <c:pt idx="2">
                <c:v>QA</c:v>
              </c:pt>
              <c:pt idx="3">
                <c:v>Workflow</c:v>
              </c:pt>
              <c:pt idx="4">
                <c:v>Экспорт</c:v>
              </c:pt>
            </c:strLit>
          </c:cat>
          <c:val>
            <c:numLit>
              <c:formatCode>General</c:formatCode>
              <c:ptCount val="5"/>
              <c:pt idx="0">
                <c:v>100</c:v>
              </c:pt>
              <c:pt idx="1">
                <c:v>100</c:v>
              </c:pt>
              <c:pt idx="2">
                <c:v>92</c:v>
              </c:pt>
              <c:pt idx="3">
                <c:v>96</c:v>
              </c:pt>
              <c:pt idx="4">
                <c:v>100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F12895-9393-4667-8DA6-DCF12650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340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827"/>
                </a:solidFill>
              </a:defRPr>
            </a:pPr>
            <a:r>
              <a:rPr sz="4800" b="1">
                <a:solidFill>
                  <a:srgbClr val="111827"/>
                </a:solidFill>
              </a:rPr>
              <a:t>Gecko 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598F0C-B07F-4C98-BF5E-413E2792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704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6B7280"/>
                </a:solidFill>
              </a:defRPr>
            </a:pPr>
            <a:r>
              <a:rPr sz="2175" b="0">
                <a:solidFill>
                  <a:srgbClr val="6B7280"/>
                </a:solidFill>
              </a:rPr>
              <a:t>Веб-платформа разметки, верификации и контроля качества речевых данных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40395-C5F3-4419-94FF-90FF0675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55CFA-C9F7-4089-88E4-43BC5837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Работающий MVP для полного сценария: импорт предразметки, правка сегментов, QA, верификация и экспорт Gecko JSON.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82229-C25D-42A1-B281-9824AC0B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704850"/>
            <a:ext cx="31432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ED1EA-D532-4F31-992D-2D5C8AFC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3144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5665D9"/>
                </a:solidFill>
              </a:defRPr>
            </a:pPr>
            <a:r>
              <a:rPr sz="3750" b="1">
                <a:solidFill>
                  <a:srgbClr val="5665D9"/>
                </a:solidFill>
              </a:rPr>
              <a:t>267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E021F-3F08-42E5-9CF0-1823D140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05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B7280"/>
                </a:solidFill>
              </a:defRPr>
            </a:pPr>
            <a:r>
              <a:rPr sz="1275" b="0">
                <a:solidFill>
                  <a:srgbClr val="6B7280"/>
                </a:solidFill>
              </a:rPr>
              <a:t>реальных сегментов импортировано из 14.json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F0B976-CF3D-4A27-82E1-F1E393ED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9080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68F86"/>
                </a:solidFill>
              </a:defRPr>
            </a:pPr>
            <a:r>
              <a:rPr sz="3750" b="1">
                <a:solidFill>
                  <a:srgbClr val="168F86"/>
                </a:solidFill>
              </a:rPr>
              <a:t>0.01с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C9EE9-8F04-4056-8CEB-648F7F4F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81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B7280"/>
                </a:solidFill>
              </a:defRPr>
            </a:pPr>
            <a:r>
              <a:rPr sz="1275" b="0">
                <a:solidFill>
                  <a:srgbClr val="6B7280"/>
                </a:solidFill>
              </a:rPr>
              <a:t>точность ручной правки границ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5D87DA-E2C8-4002-AA0E-E24D57EB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67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38B5B"/>
                </a:solidFill>
              </a:defRPr>
            </a:pPr>
            <a:r>
              <a:rPr sz="3750" b="1">
                <a:solidFill>
                  <a:srgbClr val="238B5B"/>
                </a:solidFill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574A1-0414-4E37-B493-0138FAA8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577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B7280"/>
                </a:solidFill>
              </a:defRPr>
            </a:pPr>
            <a:r>
              <a:rPr sz="1275" b="0">
                <a:solidFill>
                  <a:srgbClr val="6B7280"/>
                </a:solidFill>
              </a:rPr>
              <a:t>роли в рабочем процессе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059F3-E247-47BC-BA7B-A5D105B7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69EA7-6E24-4935-80C9-B4E9428A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52243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417886-C5D5-4E23-8506-F8B6229D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Проблема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AB108-ACC6-4108-B3D5-D945A36A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Разметка должна быть точной, проверяемой и пригодной для ML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C4F55-3F5C-4F3C-BAC0-F6624907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ТЗ требует не просто редактор аудио, а управляемый процесс от предразметки до финального экспорта.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87632-81EA-41B3-97F2-6641FB73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11830-6525-4817-BF4A-D141A632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5D9"/>
          </a:solidFill>
          <a:ln xmlns:a="http://schemas.openxmlformats.org/drawingml/2006/main" w="0">
            <a:solidFill>
              <a:srgbClr val="5665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BBC7A-425B-484F-A344-389203F0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956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границы сегментов влияют на обучение ASR и синхронизацию текста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96F76-65BD-4D5F-B4E3-D13A48E2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00"/>
          </a:solidFill>
          <a:ln xmlns:a="http://schemas.openxmlformats.org/drawingml/2006/main" w="0">
            <a:solidFill>
              <a:srgbClr val="B978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2DBB3-D75C-44D6-B1BE-86B476EA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480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кросстолки, короткие реплики и технические термины легко потерять вручную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32256-5514-470C-8ECF-2B9FAEB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4055"/>
          </a:solidFill>
          <a:ln xmlns:a="http://schemas.openxmlformats.org/drawingml/2006/main" w="0">
            <a:solidFill>
              <a:srgbClr val="BF40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B7E51-9985-4890-BD5F-0E627A77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без автосохранения, истории и QA растёт риск повторной работы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0D213D-0B6D-4BBA-AF73-7819AD92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2F1C8C-4726-4354-A6A6-ABCE01F8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529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верификация должна быть встроена в процесс, а не жить в отдельных файлах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731058-B6EE-4E9E-885B-1236EC75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23812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A4045D-4BD4-41BC-B9F7-7B069D3F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43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Цель MVP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C7CED7-E11D-4A40-9244-3EBF38BC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57600"/>
            <a:ext cx="17907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снизить ручные ошибки и дать жюри полный проверяемый сценарий работы с речевыми данными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C658BA-D9A3-4D26-806B-8F03FDF2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F6EE4-8C54-4C60-956C-51B5F459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13759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C883B5-995D-48A3-8F1D-C90D6CBE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Решение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F0332-F535-4EDB-8CD3-6385ACD4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Один интерфейс закрывает роли разметчика, верификатора и контроля качества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2E1BDD-3A63-465C-A97C-CDDEA771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Пользователь видит waveform, сегменты, текст, подсказки, чек-лист и экспорт в одном рабочем месте.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760F3-7EE2-4C0C-95C7-FD6B6521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7dd362c3c49e6"/>
          <a:srcRect xmlns:a="http://schemas.openxmlformats.org/drawingml/2006/main" l="0" t="13769" r="0" b="13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2343150"/>
            <a:ext cx="695325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62F44D-9DF9-43A5-9F25-A87F6331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5D9"/>
          </a:solidFill>
          <a:ln xmlns:a="http://schemas.openxmlformats.org/drawingml/2006/main" w="0">
            <a:solidFill>
              <a:srgbClr val="5665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034D23-54D0-4250-AD11-7A893A0C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90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сегменты редактируются прямо на аудиолинии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8D503-2840-4731-9459-D434D1E8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95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7D6D87-DB50-4B16-A9B2-3DBAF37D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004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Play Segment воспроизводит точный фрагмент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5B68B-B74B-4100-A637-027538EB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B5B"/>
          </a:solidFill>
          <a:ln xmlns:a="http://schemas.openxmlformats.org/drawingml/2006/main" w="0">
            <a:solidFill>
              <a:srgbClr val="238B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1BFD98-0982-4CA8-BF78-8F12DED1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8100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изменения сохраняются автоматически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05DD44-806F-43CE-B2E6-0380E157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14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00"/>
          </a:solidFill>
          <a:ln xmlns:a="http://schemas.openxmlformats.org/drawingml/2006/main" w="0">
            <a:solidFill>
              <a:srgbClr val="B97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DC4F7-D54A-4A83-9F1F-B5E51668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4196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экспорт возвращает Gecko-compatible JSON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3C1C6F-2813-4C79-900C-300CB361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EFC4E3-EA61-446A-8362-D4A8127B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007212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7C519A-B6B4-41C2-856B-DB19BBF0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Waveform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EB5EA-BD1C-4547-B877-5FE362AD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Сегменты видны там, где с ними работает разметчик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D41E63-52AC-4B6C-82CA-BD0E8C0C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Цвет каждого фрагмента связан со спикером, а границы можно переносить и растягивать на линии аудио.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DFB6D-D3D0-4D30-991E-2BE88DD9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e35db91d84d3f"/>
          <a:srcRect xmlns:a="http://schemas.openxmlformats.org/drawingml/2006/main" l="0" t="21931" r="0" b="219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400300"/>
            <a:ext cx="7429500" cy="2838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4C9AA-9601-4725-B3A4-9166ACE4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4384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DD4F4E-F4BF-415B-ACDE-B814093C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Что проверено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2C8C6-8ED3-45D7-A4EE-43EB18E8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5D9"/>
          </a:solidFill>
          <a:ln xmlns:a="http://schemas.openxmlformats.org/drawingml/2006/main" w="0">
            <a:solidFill>
              <a:srgbClr val="5665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DD0BF-EA5E-41DE-8449-BDE0B596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337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импорт 14.mp4 + 14.json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6A2109-575A-421D-8B68-DA844ACE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48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80B236-9EC7-4CC8-961C-9BB51793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528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267 монологов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87B434-4405-4E36-B4BB-B6B7ADD3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67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00"/>
          </a:solidFill>
          <a:ln xmlns:a="http://schemas.openxmlformats.org/drawingml/2006/main" w="0">
            <a:solidFill>
              <a:srgbClr val="B97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6D104-29B3-4662-B534-64E67833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719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разные цвета спикеров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FBB2D3-6B75-4E6D-AF6B-790F86AA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686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B5B"/>
          </a:solidFill>
          <a:ln xmlns:a="http://schemas.openxmlformats.org/drawingml/2006/main" w="0">
            <a:solidFill>
              <a:srgbClr val="238B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3732CB-58B2-4F79-A234-60198866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91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редактирование и экспорт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D5273-CB10-476E-96F2-171E0A3F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2B6575-3E74-4F2C-9388-EEEEAE94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042233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BA1E4-CFB7-4A2A-9901-73D7CE5B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Функциональность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6C21C-35E1-4639-BE80-782676DE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MVP покрывает обязательные требования и расширения из ТЗ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03D1F-BE39-4F0D-A715-D27D848A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Фокус сделан на рабочем сценарии, который можно показать и проверить на реальных файлах.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513AB-8F69-48B9-AD98-985ADDEA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62D4B-D551-4900-8235-209AC312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4003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0B86A5-E817-43D3-85B6-5CD75C5E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665D9"/>
                </a:solidFill>
              </a:defRPr>
            </a:pPr>
            <a:r>
              <a:rPr sz="1950" b="1">
                <a:solidFill>
                  <a:srgbClr val="5665D9"/>
                </a:solidFill>
              </a:rPr>
              <a:t>Импорт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E77E88-57F0-4C2B-8E60-AA91BBD1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аудио, видео, Gecko JSON v2, плоский JSON, CSV, RTTM, CTM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9323F-C576-4EE4-941E-11AEB6E2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47950"/>
            <a:ext cx="24003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2A376-757A-4D71-B046-315AE4DF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956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8F86"/>
                </a:solidFill>
              </a:defRPr>
            </a:pPr>
            <a:r>
              <a:rPr sz="1950" b="1">
                <a:solidFill>
                  <a:srgbClr val="168F86"/>
                </a:solidFill>
              </a:rPr>
              <a:t>Разметка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440AD-5E05-4866-A145-6F13189D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создание, удаление, split/merge, start/end 0.01с, текст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5F21C-26F8-4725-A9C5-39BA70AE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24003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6DA5A-68F9-478B-AE2E-D23C8849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956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97800"/>
                </a:solidFill>
              </a:defRPr>
            </a:pPr>
            <a:r>
              <a:rPr sz="1950" b="1">
                <a:solidFill>
                  <a:srgbClr val="B97800"/>
                </a:solidFill>
              </a:rPr>
              <a:t>Качество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1D435E-0999-481A-BE26-D5A108B6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290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QA-проверки, термины, confidence, кросстолки, чек-лист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8DA6A5-F568-4561-AF8A-6E31D00F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47950"/>
            <a:ext cx="24003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E2E35A-CAF2-4F89-AB77-FC7392C0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956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38B5B"/>
                </a:solidFill>
              </a:defRPr>
            </a:pPr>
            <a:r>
              <a:rPr sz="1950" b="1">
                <a:solidFill>
                  <a:srgbClr val="238B5B"/>
                </a:solidFill>
              </a:rPr>
              <a:t>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24172A-3A49-4A52-9F84-D6FE021D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роли, верификация, возврат, принятие, история, AuditLog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A5659E-5107-466E-91F8-87DC5303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260AF7-04A3-45CC-9D22-518DFCB4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147502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0374AD-FDAE-4B52-ACD5-A2C3136D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499502-67ED-4A90-9B7E-BB3E9742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Frontend быстрый для демо, backend готовит путь к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80ADF0-E7C7-4DEA-B904-87CC3A3A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React отвечает за рабочее место, FastAPI закрывает контракты импорта, экспорта, RBAC, QA и хранения.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03223-F7AE-45E8-B134-143AAD55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B5DCD-EAB9-4141-B705-BD1ABD29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9718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D6934-186C-47B8-956B-0C2833C9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71750"/>
            <a:ext cx="29718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84254-FE52-4827-A69A-868FDD3D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71750"/>
            <a:ext cx="29718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8D882-EB69-410E-A496-CA826ECE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146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665D9"/>
                </a:solidFill>
              </a:defRPr>
            </a:pPr>
            <a:r>
              <a:rPr sz="1875" b="1">
                <a:solidFill>
                  <a:srgbClr val="5665D9"/>
                </a:solidFill>
              </a:rPr>
              <a:t>React + WaveSurfer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7CC2C4-BBD1-4C07-AA7B-9A07B6A8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2305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рабочее место, waveform, роли, редакторы, локальное автосохранение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E3E56-5352-437A-9B00-1D9D6A4E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146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8F86"/>
                </a:solidFill>
              </a:defRPr>
            </a:pPr>
            <a:r>
              <a:rPr sz="1875" b="1">
                <a:solidFill>
                  <a:srgbClr val="168F86"/>
                </a:solidFill>
              </a:rPr>
              <a:t>FastAPI adapter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FD6C0-B752-4470-A877-A853DA33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48050"/>
            <a:ext cx="2305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Gecko v2 import/export, segment CRUD, terms, verification, analytics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7FEA6-2E3D-44BB-81B9-AD12E065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146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38B5B"/>
                </a:solidFill>
              </a:defRPr>
            </a:pPr>
            <a:r>
              <a:rPr sz="1875" b="1">
                <a:solidFill>
                  <a:srgbClr val="238B5B"/>
                </a:solidFill>
              </a:rPr>
              <a:t>PostgreSQL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E958F7-BF46-4852-8050-B83937B8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2305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Alembic migration, Docker Compose, backup/restore scripts для следующего шага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D9401F-C00E-41B2-ABF0-5CDAD9B8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AF1A8-A010-4072-B346-1694B433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08351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BA183F-7B3C-41A4-840B-EFFEC5FE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Контроль качества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FBFF5-6758-439B-843F-DDC50833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Проверки встроены в работу, а не отложены до финального файла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F7D875-BE12-46C9-BFE7-5778A632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Разметчик и верификатор видят проблемы до экспорта: границы, пустой текст, пересечения, термины и confidence.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DE49EA-E1AA-43BF-AF58-5EFAB067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876300" y="2571750"/>
          <a:ext xmlns:a="http://schemas.openxmlformats.org/drawingml/2006/main" cx="50482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34dbc34571417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6A528-A2CC-48FB-92EE-25DEACC6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71750"/>
            <a:ext cx="388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FB553-F60D-494E-9637-74E1BE78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146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</a:defRPr>
            </a:pPr>
            <a:r>
              <a:rPr sz="1950" b="1">
                <a:solidFill>
                  <a:srgbClr val="111827"/>
                </a:solidFill>
              </a:rPr>
              <a:t>Автотесты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78844-4D74-476B-BF4B-5AD72FD4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62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5D9"/>
          </a:solidFill>
          <a:ln xmlns:a="http://schemas.openxmlformats.org/drawingml/2006/main" w="0">
            <a:solidFill>
              <a:srgbClr val="5665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B56C4-1B60-4B55-ABD6-69C9FC91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4671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production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82DBC-3840-47FB-8440-FF022A79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981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D1826-C561-4315-9361-79001F92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86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backend pytest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542712-8861-48AB-8ED0-1109B59F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00"/>
          </a:solidFill>
          <a:ln xmlns:a="http://schemas.openxmlformats.org/drawingml/2006/main" w="0">
            <a:solidFill>
              <a:srgbClr val="B978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533466-3C20-4963-84FA-67C29620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053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UI actions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91D9AC-0E46-4F82-B9E3-10AA1C4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819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B5B"/>
          </a:solidFill>
          <a:ln xmlns:a="http://schemas.openxmlformats.org/drawingml/2006/main" w="0">
            <a:solidFill>
              <a:srgbClr val="238B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E6120-CB58-4715-905C-B17C3EB4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24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реальный Gecko v2 файл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CE4678-9F06-4281-9E0A-BFF4C29C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FEC5D-35CD-4563-8E96-C5587E5D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914224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94E33E-BB16-4970-83E5-1928E664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Сценарий показа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EDEDA-485F-42DB-A058-93CCE8FA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Жюри можно провести через полный цикл за несколько минут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88646-71C3-47C9-8AB8-5289D8A3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Демо не зависит от ручной подготовки: проект стартует пустым, затем импортирует реальные пользовательские файлы.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48152-677B-4FA2-ACCE-BC44C852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F94A2-5279-472C-8CB5-0467A33B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F86"/>
                </a:solidFill>
              </a:defRPr>
            </a:pPr>
            <a:r>
              <a:rPr sz="1650" b="1">
                <a:solidFill>
                  <a:srgbClr val="168F86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D71A5-610E-482B-BB0A-6B1E249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81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Войти как разметчик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EB417B-E864-4D81-8865-C9769EC2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81300"/>
            <a:ext cx="695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285E1B-6537-4033-955D-E148941D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F86"/>
                </a:solidFill>
              </a:defRPr>
            </a:pPr>
            <a:r>
              <a:rPr sz="1650" b="1">
                <a:solidFill>
                  <a:srgbClr val="168F86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FA175-0E59-460D-B6AF-727D64E7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95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Загрузить видео/аудио и Gecko 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73854B-D027-49E8-BC78-DA3640EA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695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3AE60-EDF3-40BE-AE8F-73DA4199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F86"/>
                </a:solidFill>
              </a:defRPr>
            </a:pPr>
            <a:r>
              <a:rPr sz="1650" b="1">
                <a:solidFill>
                  <a:srgbClr val="168F86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0CDCB-CC52-4865-BF30-F9FAF7BE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409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Выбрать сегмент на waveform и исправить границы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7B31E6-DA70-43D1-A3F8-337C6E88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695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95CC4-8747-4D3A-B7FB-0164575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243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F86"/>
                </a:solidFill>
              </a:defRPr>
            </a:pPr>
            <a:r>
              <a:rPr sz="1650" b="1">
                <a:solidFill>
                  <a:srgbClr val="168F86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8E4579-6EE9-4236-9257-19DD3718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243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Проверить QA, термины и AI-подсказки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57BD03-8A36-4F70-B3C9-86EA98E8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24350"/>
            <a:ext cx="695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54ADF7-3774-47B5-8EBB-3D826D3F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38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F86"/>
                </a:solidFill>
              </a:defRPr>
            </a:pPr>
            <a:r>
              <a:rPr sz="1650" b="1">
                <a:solidFill>
                  <a:srgbClr val="168F86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D7E17E-5A40-4A55-92E0-F490AC00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4386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Отправить на проверку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363888-E206-45B0-A2B5-952E9658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38700"/>
            <a:ext cx="695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753318-DE18-4B1B-9C20-570613DC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F86"/>
                </a:solidFill>
              </a:defRPr>
            </a:pPr>
            <a:r>
              <a:rPr sz="1650" b="1">
                <a:solidFill>
                  <a:srgbClr val="168F86"/>
                </a:solidFill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FF00E-D193-44CD-AC1D-AEB0E534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53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Принять или вернуть задачу как верификатор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2D8986-337F-4D5E-96F5-2B400260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53050"/>
            <a:ext cx="695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B25A84-CF74-4E66-A76D-6C5592ED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F86"/>
                </a:solidFill>
              </a:defRPr>
            </a:pPr>
            <a:r>
              <a:rPr sz="1650" b="1">
                <a:solidFill>
                  <a:srgbClr val="168F86"/>
                </a:solidFill>
              </a:rPr>
              <a:t>07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4AFD4-25B5-4E1A-8A5C-2639B263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Экспортировать Gecko JSON и QA-отчёт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200FA4-C474-4F9A-AC76-43FAD03B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867400"/>
            <a:ext cx="695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9D6300-906E-414E-BE02-32E3084A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28CBC0-4E42-453F-A5E4-2EAAF465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717127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D6DA0D-A049-426F-A518-BB80A946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Комплект сдачи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1A62C4-F968-4B1F-85E4-39B3CED1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876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В архиве есть не только код, но и доказательства готовности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3DBAF-A140-4579-9025-074E05B5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Архив очищен от временных файлов и содержит материалы, которые ожидаются в ТЗ.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6C3F9-936F-44AE-B80B-6AC25223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11087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E0D664-A2B7-4BF7-84B7-0D8A6FC8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5D9"/>
          </a:solidFill>
          <a:ln xmlns:a="http://schemas.openxmlformats.org/drawingml/2006/main" w="0">
            <a:solidFill>
              <a:srgbClr val="5665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EDF61-6E96-4BC2-98CB-174850F6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479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исходный код frontend/backend, Docker, миграции и тесты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76BDA-41C3-470E-B4C1-765BB22E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99A5F-5404-4E25-B41F-1682C6CD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004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README, архитектура, API, схема БД и матрица соответствия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D2725-76D2-44E6-BF4D-2C5E2240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B5B"/>
          </a:solidFill>
          <a:ln xmlns:a="http://schemas.openxmlformats.org/drawingml/2006/main" w="0">
            <a:solidFill>
              <a:srgbClr val="238B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DD174-168E-42CA-B543-66632CCE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528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презентация, видео-демо, скриншоты и примеры экспортов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D90B99-F8AA-4671-A7B2-6EBFAC4C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00"/>
          </a:solidFill>
          <a:ln xmlns:a="http://schemas.openxmlformats.org/drawingml/2006/main" w="0">
            <a:solidFill>
              <a:srgbClr val="B978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1A74F7-C998-4736-8A0F-D52F10B5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статический пакет сайта и GitHub Pages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B01FF2-81B7-4C40-AA33-B56EE015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2000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EE392B-121E-4814-96A2-3C571711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8610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68F86"/>
                </a:solidFill>
              </a:defRPr>
            </a:pPr>
            <a:r>
              <a:rPr sz="3750" b="1">
                <a:solidFill>
                  <a:srgbClr val="168F86"/>
                </a:solidFill>
              </a:rPr>
              <a:t>6 МБ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A5AD62-550C-4EF1-839C-9F3DF5D3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B7280"/>
                </a:solidFill>
              </a:defRPr>
            </a:pPr>
            <a:r>
              <a:rPr sz="1275" b="0">
                <a:solidFill>
                  <a:srgbClr val="6B7280"/>
                </a:solidFill>
              </a:rPr>
              <a:t>чистый архив без node_modules, .venv и кэшей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64348-D0A7-4223-A5ED-C8C7E47C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AFAE7B-4377-4B23-81EF-4BEEE2CF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07431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A84B4B-5E50-468F-A67C-BB895060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3400"/>
            <a:ext cx="304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Итог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D383C5-72CB-4FC2-87E8-E85BEF27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Gecko Next закрывает главный риск ТЗ: разметку можно не только сделать, но и проверить, вернуть, принять и выгрузить в пригодном формате.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4AF31-C037-49A9-BD1A-B75F583E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03FB08-DF3E-467E-B258-15C9AE92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5D9"/>
          </a:solidFill>
          <a:ln xmlns:a="http://schemas.openxmlformats.org/drawingml/2006/main" w="0">
            <a:solidFill>
              <a:srgbClr val="5665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5F315-5BD8-4428-8054-B9628327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основной пользовательский сценарий работает на реальных файлах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01223-E47F-4CED-BBAF-62BC46B9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F86"/>
          </a:solidFill>
          <a:ln xmlns:a="http://schemas.openxmlformats.org/drawingml/2006/main" w="0">
            <a:solidFill>
              <a:srgbClr val="168F8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54CB0-1DA8-48B6-8CA3-E3466A4C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529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качество подтверждено сборкой, backend и браузерными тестами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F2FDF-2DE1-46B9-A9AB-068BDE13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B5B"/>
          </a:solidFill>
          <a:ln xmlns:a="http://schemas.openxmlformats.org/drawingml/2006/main" w="0">
            <a:solidFill>
              <a:srgbClr val="238B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67DD9-FA3A-4A7A-8329-A584A07E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434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архитектура оставляет понятный путь к production-хранилищу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4A160-3470-463A-BE10-D770405E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8F86"/>
                </a:solidFill>
              </a:defRPr>
            </a:pPr>
            <a:r>
              <a:rPr sz="2100" b="1">
                <a:solidFill>
                  <a:srgbClr val="168F86"/>
                </a:solidFill>
              </a:rPr>
              <a:t>Готово к защите и дальнейшей публикации.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D50E23-0C9F-4093-B0AF-7BA6395E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Gecko Next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95543-3766-41C0-BDED-681CF4FA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341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669553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2026-07-11T20:29:00.1250000Z</dcterms:created>
  <dcterms:modified xsi:type="dcterms:W3CDTF">2026-07-11T20:29:00.1260000Z</dcterms:modified>
</coreProperties>
</file>