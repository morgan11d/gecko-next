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7C4B1-D590-411C-9EB8-7548071F9B76}" v="654" dt="2026-07-12T15:27:24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Покрытие</c:v>
          </c:tx>
          <c:spPr>
            <a:solidFill>
              <a:srgbClr val="168F8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Импорт</c:v>
              </c:pt>
              <c:pt idx="1">
                <c:v>Сегменты</c:v>
              </c:pt>
              <c:pt idx="2">
                <c:v>QA</c:v>
              </c:pt>
              <c:pt idx="3">
                <c:v>Workflow</c:v>
              </c:pt>
              <c:pt idx="4">
                <c:v>Экспорт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92</c:v>
              </c:pt>
              <c:pt idx="3">
                <c:v>96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2E-4D7C-8BED-7F3429106F4C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F12895-9393-4667-8DA6-DCF126504C96}"/>
              </a:ext>
            </a:extLst>
          </p:cNvPr>
          <p:cNvSpPr>
            <a:spLocks noGrp="1"/>
          </p:cNvSpPr>
          <p:nvPr/>
        </p:nvSpPr>
        <p:spPr>
          <a:xfrm>
            <a:off x="4518597" y="1982449"/>
            <a:ext cx="3154181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Gecko Next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8F69EA7-6E24-4935-80C9-B4E9428A0D92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B4C13-53AD-14F2-D272-31FDA0528A10}"/>
              </a:ext>
            </a:extLst>
          </p:cNvPr>
          <p:cNvSpPr txBox="1"/>
          <p:nvPr/>
        </p:nvSpPr>
        <p:spPr>
          <a:xfrm>
            <a:off x="2181925" y="3726524"/>
            <a:ext cx="78296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/>
              <a:t>Веб-платформа разметки, верификации и контроля качества речевых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1522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8F0332-F535-4EDB-8CD3-6385ACD4D4BD}"/>
              </a:ext>
            </a:extLst>
          </p:cNvPr>
          <p:cNvSpPr>
            <a:spLocks noGrp="1"/>
          </p:cNvSpPr>
          <p:nvPr/>
        </p:nvSpPr>
        <p:spPr>
          <a:xfrm>
            <a:off x="4287499" y="742950"/>
            <a:ext cx="5027951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lang="ru-RU" sz="2850" b="1">
                <a:solidFill>
                  <a:srgbClr val="111827"/>
                </a:solidFill>
              </a:rPr>
              <a:t>Интерфейс.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2E1BDD-3A63-465C-A97C-CDDEA771CFBE}"/>
              </a:ext>
            </a:extLst>
          </p:cNvPr>
          <p:cNvSpPr>
            <a:spLocks noGrp="1"/>
          </p:cNvSpPr>
          <p:nvPr/>
        </p:nvSpPr>
        <p:spPr>
          <a:xfrm>
            <a:off x="552450" y="1555854"/>
            <a:ext cx="9943474" cy="583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en-US" sz="1700" dirty="0">
                <a:solidFill>
                  <a:srgbClr val="111827"/>
                </a:solidFill>
              </a:rPr>
              <a:t> Пользователь </a:t>
            </a:r>
            <a:r>
              <a:rPr lang="en-US" sz="1700" dirty="0" err="1">
                <a:solidFill>
                  <a:srgbClr val="111827"/>
                </a:solidFill>
              </a:rPr>
              <a:t>видит</a:t>
            </a:r>
            <a:r>
              <a:rPr lang="en-US" sz="1700" dirty="0">
                <a:solidFill>
                  <a:srgbClr val="111827"/>
                </a:solidFill>
              </a:rPr>
              <a:t> waveform, </a:t>
            </a:r>
            <a:r>
              <a:rPr lang="en-US" sz="1700" dirty="0" err="1">
                <a:solidFill>
                  <a:srgbClr val="111827"/>
                </a:solidFill>
              </a:rPr>
              <a:t>сегменты</a:t>
            </a:r>
            <a:r>
              <a:rPr lang="en-US" sz="1700" dirty="0">
                <a:solidFill>
                  <a:srgbClr val="111827"/>
                </a:solidFill>
              </a:rPr>
              <a:t>, </a:t>
            </a:r>
            <a:r>
              <a:rPr lang="en-US" sz="1700" dirty="0" err="1">
                <a:solidFill>
                  <a:srgbClr val="111827"/>
                </a:solidFill>
              </a:rPr>
              <a:t>текст</a:t>
            </a:r>
            <a:r>
              <a:rPr lang="en-US" sz="1700" dirty="0">
                <a:solidFill>
                  <a:srgbClr val="111827"/>
                </a:solidFill>
              </a:rPr>
              <a:t>, </a:t>
            </a:r>
            <a:r>
              <a:rPr lang="en-US" sz="1700" dirty="0" err="1">
                <a:solidFill>
                  <a:srgbClr val="111827"/>
                </a:solidFill>
              </a:rPr>
              <a:t>подсказки</a:t>
            </a:r>
            <a:r>
              <a:rPr lang="en-US" sz="1700" dirty="0">
                <a:solidFill>
                  <a:srgbClr val="111827"/>
                </a:solidFill>
              </a:rPr>
              <a:t>, </a:t>
            </a:r>
            <a:r>
              <a:rPr lang="en-US" sz="1700" dirty="0" err="1">
                <a:solidFill>
                  <a:srgbClr val="111827"/>
                </a:solidFill>
              </a:rPr>
              <a:t>чек-лист</a:t>
            </a:r>
            <a:r>
              <a:rPr lang="en-US" sz="1700" dirty="0">
                <a:solidFill>
                  <a:srgbClr val="111827"/>
                </a:solidFill>
              </a:rPr>
              <a:t> и </a:t>
            </a:r>
            <a:r>
              <a:rPr lang="en-US" sz="1700" dirty="0" err="1">
                <a:solidFill>
                  <a:srgbClr val="111827"/>
                </a:solidFill>
              </a:rPr>
              <a:t>экспорт</a:t>
            </a:r>
            <a:r>
              <a:rPr lang="en-US" sz="1700" dirty="0">
                <a:solidFill>
                  <a:srgbClr val="111827"/>
                </a:solidFill>
              </a:rPr>
              <a:t> в </a:t>
            </a:r>
            <a:r>
              <a:rPr lang="en-US" sz="1700" dirty="0" err="1">
                <a:solidFill>
                  <a:srgbClr val="111827"/>
                </a:solidFill>
              </a:rPr>
              <a:t>одномрабочем</a:t>
            </a:r>
            <a:r>
              <a:rPr lang="en-US" sz="1700" dirty="0">
                <a:solidFill>
                  <a:srgbClr val="111827"/>
                </a:solidFill>
              </a:rPr>
              <a:t> </a:t>
            </a:r>
            <a:r>
              <a:rPr lang="en-US" sz="1700" dirty="0" err="1">
                <a:solidFill>
                  <a:srgbClr val="111827"/>
                </a:solidFill>
              </a:rPr>
              <a:t>месте</a:t>
            </a:r>
            <a:r>
              <a:rPr lang="en-US" sz="1700" dirty="0">
                <a:solidFill>
                  <a:srgbClr val="111827"/>
                </a:solidFill>
              </a:rPr>
              <a:t>.</a:t>
            </a:r>
            <a:endParaRPr lang="ru-RU" sz="1500" dirty="0" err="1">
              <a:solidFill>
                <a:srgbClr val="6B7280"/>
              </a:solidFill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rcRect t="13769" b="13769"/>
          <a:stretch>
            <a:fillRect/>
          </a:stretch>
        </p:blipFill>
        <p:spPr>
          <a:xfrm>
            <a:off x="549639" y="2592986"/>
            <a:ext cx="6953250" cy="3429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B034D23-54D0-4250-AD11-7A893A0C88FD}"/>
              </a:ext>
            </a:extLst>
          </p:cNvPr>
          <p:cNvSpPr>
            <a:spLocks noGrp="1"/>
          </p:cNvSpPr>
          <p:nvPr/>
        </p:nvSpPr>
        <p:spPr>
          <a:xfrm>
            <a:off x="8169951" y="2497112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сегменты редактируются прямо на аудиолинии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7D6D87-DB50-4B16-A9B2-3DBAF37D6EB5}"/>
              </a:ext>
            </a:extLst>
          </p:cNvPr>
          <p:cNvSpPr>
            <a:spLocks noGrp="1"/>
          </p:cNvSpPr>
          <p:nvPr/>
        </p:nvSpPr>
        <p:spPr>
          <a:xfrm>
            <a:off x="8169951" y="3225384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Play Segment воспроизводит точный фрагмент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1BFD98-0982-4CA8-BF78-8F12DED1BF2F}"/>
              </a:ext>
            </a:extLst>
          </p:cNvPr>
          <p:cNvSpPr>
            <a:spLocks noGrp="1"/>
          </p:cNvSpPr>
          <p:nvPr/>
        </p:nvSpPr>
        <p:spPr>
          <a:xfrm>
            <a:off x="8169951" y="4147278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изменения сохраняются автоматически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7DC4F7-D54A-4A83-9F1F-B5E516686063}"/>
              </a:ext>
            </a:extLst>
          </p:cNvPr>
          <p:cNvSpPr>
            <a:spLocks noGrp="1"/>
          </p:cNvSpPr>
          <p:nvPr/>
        </p:nvSpPr>
        <p:spPr>
          <a:xfrm>
            <a:off x="8169951" y="4794354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экспорт возвращает Gecko-compatible JSON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5EFC4E3-EA61-446A-8362-D4A8127BA412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02</a:t>
            </a:r>
            <a:endParaRPr sz="1050" b="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72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2EB5EA-BD1C-4547-B877-5FE362ADEFDC}"/>
              </a:ext>
            </a:extLst>
          </p:cNvPr>
          <p:cNvSpPr>
            <a:spLocks noGrp="1"/>
          </p:cNvSpPr>
          <p:nvPr/>
        </p:nvSpPr>
        <p:spPr>
          <a:xfrm>
            <a:off x="4106368" y="680491"/>
            <a:ext cx="3984885" cy="561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lang="ru-RU" sz="2850" b="1">
                <a:solidFill>
                  <a:srgbClr val="111827"/>
                </a:solidFill>
              </a:rPr>
              <a:t>Работа со сегментами.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rcRect t="21931" b="21931"/>
          <a:stretch>
            <a:fillRect/>
          </a:stretch>
        </p:blipFill>
        <p:spPr>
          <a:xfrm>
            <a:off x="1222948" y="2831267"/>
            <a:ext cx="9603073" cy="283845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02B6575-3E74-4F2C-9388-EEEEAE943635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03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53BB9-7652-B18C-454A-C7512216BEF9}"/>
              </a:ext>
            </a:extLst>
          </p:cNvPr>
          <p:cNvSpPr txBox="1"/>
          <p:nvPr/>
        </p:nvSpPr>
        <p:spPr>
          <a:xfrm>
            <a:off x="673741" y="1970183"/>
            <a:ext cx="106083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000000"/>
                </a:solidFill>
              </a:rPr>
              <a:t>Цвет каждого фрагмента связан со спикером, а границы можно переносить и растягиватьна линии аудио.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2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D6C21C-35E1-4639-BE80-782676DEB3CB}"/>
              </a:ext>
            </a:extLst>
          </p:cNvPr>
          <p:cNvSpPr>
            <a:spLocks noGrp="1"/>
          </p:cNvSpPr>
          <p:nvPr/>
        </p:nvSpPr>
        <p:spPr>
          <a:xfrm>
            <a:off x="3819057" y="774180"/>
            <a:ext cx="3797509" cy="623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lang="ru-RU" sz="2850" b="1">
                <a:solidFill>
                  <a:srgbClr val="111827"/>
                </a:solidFill>
              </a:rPr>
              <a:t>Что умеет делать сайт.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0B86A5-E817-43D3-85B6-5CD75C5EFD9B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950" b="1">
                <a:solidFill>
                  <a:srgbClr val="5665D9"/>
                </a:solidFill>
              </a:defRPr>
            </a:pPr>
            <a:r>
              <a:rPr lang="ru-RU">
                <a:solidFill>
                  <a:srgbClr val="000000"/>
                </a:solidFill>
              </a:rPr>
              <a:t>Импорт</a:t>
            </a:r>
            <a:r>
              <a:rPr lang="ru-RU" sz="1500" dirty="0">
                <a:solidFill>
                  <a:srgbClr val="000000"/>
                </a:solidFill>
              </a:rPr>
              <a:t> 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E77E88-57F0-4C2B-8E60-AA91BBD155EC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19240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ru-RU">
                <a:solidFill>
                  <a:srgbClr val="000000"/>
                </a:solidFill>
              </a:rPr>
              <a:t>аудио, видео, </a:t>
            </a:r>
            <a:r>
              <a:rPr lang="ru-RU" dirty="0">
                <a:solidFill>
                  <a:srgbClr val="000000"/>
                </a:solidFill>
              </a:rPr>
              <a:t>Gecko JSON v2, плоский JSON, CSV, RTTM, CTM </a:t>
            </a:r>
            <a:endParaRPr lang="ru-RU" dirty="0">
              <a:solidFill>
                <a:srgbClr val="6B728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762A376-757A-4D71-B046-315AE4DF74D9}"/>
              </a:ext>
            </a:extLst>
          </p:cNvPr>
          <p:cNvSpPr>
            <a:spLocks noGrp="1"/>
          </p:cNvSpPr>
          <p:nvPr/>
        </p:nvSpPr>
        <p:spPr>
          <a:xfrm>
            <a:off x="3676650" y="289560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950" b="1">
                <a:solidFill>
                  <a:srgbClr val="168F86"/>
                </a:solidFill>
              </a:defRPr>
            </a:pPr>
            <a:endParaRPr lang="ru-RU" dirty="0"/>
          </a:p>
          <a:p>
            <a:pPr algn="l">
              <a:defRPr sz="1950" b="1">
                <a:solidFill>
                  <a:srgbClr val="168F86"/>
                </a:solidFill>
              </a:defRPr>
            </a:pPr>
            <a:endParaRPr lang="ru-RU" sz="1950" b="1" dirty="0">
              <a:solidFill>
                <a:srgbClr val="168F86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33440AD-5E05-4866-A145-6F13189DE5B6}"/>
              </a:ext>
            </a:extLst>
          </p:cNvPr>
          <p:cNvSpPr>
            <a:spLocks noGrp="1"/>
          </p:cNvSpPr>
          <p:nvPr/>
        </p:nvSpPr>
        <p:spPr>
          <a:xfrm>
            <a:off x="3676650" y="3429000"/>
            <a:ext cx="19240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ru-RU" sz="1500">
                <a:solidFill>
                  <a:srgbClr val="000000"/>
                </a:solidFill>
              </a:rPr>
              <a:t>создание, удаление,split/merge, start/end0.01с, текст</a:t>
            </a:r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C1D435E-0999-481A-BE26-D5A108B66241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19240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ru-RU" sz="1500">
                <a:solidFill>
                  <a:srgbClr val="000000"/>
                </a:solidFill>
              </a:rPr>
              <a:t>QA-проверки, термины, confidence, кросстолки, чек-лист </a:t>
            </a:r>
          </a:p>
          <a:p>
            <a:pPr>
              <a:defRPr sz="1500" b="0">
                <a:solidFill>
                  <a:srgbClr val="6B7280"/>
                </a:solidFill>
              </a:defRPr>
            </a:pPr>
            <a:endParaRPr lang="ru-RU" sz="1500" b="0" dirty="0">
              <a:solidFill>
                <a:srgbClr val="6B7280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24172A-3A49-4A52-9F84-D6FE021D4E3A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9240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ru-RU">
                <a:solidFill>
                  <a:srgbClr val="000000"/>
                </a:solidFill>
              </a:rPr>
              <a:t>роли, верификация, возврат, принятие, история, AuditLog</a:t>
            </a:r>
            <a:endParaRPr lang="ru-RU" dirty="0">
              <a:solidFill>
                <a:srgbClr val="6B7280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B260AF7-04A3-45CC-9D22-518DFCB497A0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C8B91E-E0A5-F68C-6417-5AD76DC7C50D}"/>
              </a:ext>
            </a:extLst>
          </p:cNvPr>
          <p:cNvSpPr txBox="1"/>
          <p:nvPr/>
        </p:nvSpPr>
        <p:spPr>
          <a:xfrm>
            <a:off x="653324" y="2082473"/>
            <a:ext cx="105961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000000"/>
                </a:solidFill>
              </a:rPr>
              <a:t>Фокус сделан на рабочем сценарии, который можно показать и проверить на реальных файлах.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C3730-F733-04F8-98D3-7EAC3A981409}"/>
              </a:ext>
            </a:extLst>
          </p:cNvPr>
          <p:cNvSpPr txBox="1"/>
          <p:nvPr/>
        </p:nvSpPr>
        <p:spPr>
          <a:xfrm>
            <a:off x="3674952" y="2939962"/>
            <a:ext cx="1755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/>
              <a:t>Разметка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FEB66-763B-7959-83FF-854421EAAEDA}"/>
              </a:ext>
            </a:extLst>
          </p:cNvPr>
          <p:cNvSpPr txBox="1"/>
          <p:nvPr/>
        </p:nvSpPr>
        <p:spPr>
          <a:xfrm>
            <a:off x="6574083" y="2950171"/>
            <a:ext cx="18170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/>
              <a:t>Качество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F7CD5-9F05-1D9F-6E84-7B0AEA9ACB96}"/>
              </a:ext>
            </a:extLst>
          </p:cNvPr>
          <p:cNvSpPr txBox="1"/>
          <p:nvPr/>
        </p:nvSpPr>
        <p:spPr>
          <a:xfrm>
            <a:off x="9350715" y="2939963"/>
            <a:ext cx="1847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1475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5499502-67ED-4A90-9B7E-BB3E9742556D}"/>
              </a:ext>
            </a:extLst>
          </p:cNvPr>
          <p:cNvSpPr>
            <a:spLocks noGrp="1"/>
          </p:cNvSpPr>
          <p:nvPr/>
        </p:nvSpPr>
        <p:spPr>
          <a:xfrm>
            <a:off x="3325630" y="811655"/>
            <a:ext cx="5015460" cy="5864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lang="ru-RU" sz="2850" b="1">
                <a:solidFill>
                  <a:srgbClr val="111827"/>
                </a:solidFill>
              </a:rPr>
              <a:t>Структура frontend и backend.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7CC2C4-BBD1-4C07-AA7B-9A07B6A862E3}"/>
              </a:ext>
            </a:extLst>
          </p:cNvPr>
          <p:cNvSpPr>
            <a:spLocks noGrp="1"/>
          </p:cNvSpPr>
          <p:nvPr/>
        </p:nvSpPr>
        <p:spPr>
          <a:xfrm>
            <a:off x="1123950" y="3448050"/>
            <a:ext cx="23050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рабочее место, waveform, роли, редакторы, локальное автосохранение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28FD6C0-B752-4470-A877-A853DA33AF46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3050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Gecko v2 import/export, segment CRUD, terms, verification, analytics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6E958F7-BF46-4852-8050-B83937B85804}"/>
              </a:ext>
            </a:extLst>
          </p:cNvPr>
          <p:cNvSpPr>
            <a:spLocks noGrp="1"/>
          </p:cNvSpPr>
          <p:nvPr/>
        </p:nvSpPr>
        <p:spPr>
          <a:xfrm>
            <a:off x="8591550" y="3448050"/>
            <a:ext cx="23050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Alembic migration, Docker Compose, backup/restore scripts для следующего шага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36AF1A8-A010-4072-B346-1694B433CC9F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EDCE0B-3965-BB5D-27C7-54515E99F55B}"/>
              </a:ext>
            </a:extLst>
          </p:cNvPr>
          <p:cNvSpPr txBox="1"/>
          <p:nvPr/>
        </p:nvSpPr>
        <p:spPr>
          <a:xfrm>
            <a:off x="673741" y="1918203"/>
            <a:ext cx="10677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React отвечает за рабочее место, FastAPI закрывает контракты импорта, экспорта, RBAC, QA и хранения.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942AE-04D5-704F-A659-86A9DA993AF9}"/>
              </a:ext>
            </a:extLst>
          </p:cNvPr>
          <p:cNvSpPr txBox="1"/>
          <p:nvPr/>
        </p:nvSpPr>
        <p:spPr>
          <a:xfrm>
            <a:off x="1122902" y="2888921"/>
            <a:ext cx="2470385" cy="398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89A60-3778-E400-28B5-CE8E1D29E9EA}"/>
              </a:ext>
            </a:extLst>
          </p:cNvPr>
          <p:cNvSpPr txBox="1"/>
          <p:nvPr/>
        </p:nvSpPr>
        <p:spPr>
          <a:xfrm>
            <a:off x="1045334" y="2852928"/>
            <a:ext cx="26235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000000"/>
                </a:solidFill>
              </a:rPr>
              <a:t>React + WaveSurfer</a:t>
            </a:r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6E76F-CC25-7FA6-1A6B-70BF41647118}"/>
              </a:ext>
            </a:extLst>
          </p:cNvPr>
          <p:cNvSpPr txBox="1"/>
          <p:nvPr/>
        </p:nvSpPr>
        <p:spPr>
          <a:xfrm>
            <a:off x="4786166" y="2852187"/>
            <a:ext cx="20926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000000"/>
                </a:solidFill>
              </a:rPr>
              <a:t>FastAPI адаптер</a:t>
            </a:r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1F4AC-33CD-D06C-3E5C-9C30C241D0C6}"/>
              </a:ext>
            </a:extLst>
          </p:cNvPr>
          <p:cNvSpPr txBox="1"/>
          <p:nvPr/>
        </p:nvSpPr>
        <p:spPr>
          <a:xfrm>
            <a:off x="8417670" y="2854334"/>
            <a:ext cx="24805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000000"/>
                </a:solidFill>
              </a:rPr>
              <a:t>PostgreSQL схема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3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A1FBFF5-6758-439B-843F-DDC508335C79}"/>
              </a:ext>
            </a:extLst>
          </p:cNvPr>
          <p:cNvSpPr>
            <a:spLocks noGrp="1"/>
          </p:cNvSpPr>
          <p:nvPr/>
        </p:nvSpPr>
        <p:spPr>
          <a:xfrm>
            <a:off x="2894663" y="742950"/>
            <a:ext cx="6071017" cy="561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lang="ru-RU" sz="2850" b="1">
                <a:solidFill>
                  <a:srgbClr val="111827"/>
                </a:solidFill>
              </a:rPr>
              <a:t>Автоматические проверки в работе.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F7D875-BE12-46C9-BFE7-5778A632A9FD}"/>
              </a:ext>
            </a:extLst>
          </p:cNvPr>
          <p:cNvSpPr>
            <a:spLocks noGrp="1"/>
          </p:cNvSpPr>
          <p:nvPr/>
        </p:nvSpPr>
        <p:spPr>
          <a:xfrm>
            <a:off x="502483" y="1712001"/>
            <a:ext cx="8744262" cy="7897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6B7280"/>
                </a:solidFill>
              </a:defRPr>
            </a:pPr>
            <a:r>
              <a:rPr lang="en-US" sz="2000" dirty="0" err="1">
                <a:solidFill>
                  <a:srgbClr val="111827"/>
                </a:solidFill>
              </a:rPr>
              <a:t>Разметчик</a:t>
            </a:r>
            <a:r>
              <a:rPr lang="en-US" sz="2000" dirty="0">
                <a:solidFill>
                  <a:srgbClr val="111827"/>
                </a:solidFill>
              </a:rPr>
              <a:t> и </a:t>
            </a:r>
            <a:r>
              <a:rPr lang="en-US" sz="2000" dirty="0" err="1">
                <a:solidFill>
                  <a:srgbClr val="111827"/>
                </a:solidFill>
              </a:rPr>
              <a:t>верификатор</a:t>
            </a:r>
            <a:r>
              <a:rPr lang="en-US" sz="2000" dirty="0">
                <a:solidFill>
                  <a:srgbClr val="111827"/>
                </a:solidFill>
              </a:rPr>
              <a:t> </a:t>
            </a:r>
            <a:r>
              <a:rPr lang="en-US" sz="2000" dirty="0" err="1">
                <a:solidFill>
                  <a:srgbClr val="111827"/>
                </a:solidFill>
              </a:rPr>
              <a:t>видят</a:t>
            </a:r>
            <a:r>
              <a:rPr lang="en-US" sz="2000" dirty="0">
                <a:solidFill>
                  <a:srgbClr val="111827"/>
                </a:solidFill>
              </a:rPr>
              <a:t> </a:t>
            </a:r>
            <a:r>
              <a:rPr lang="en-US" sz="2000" dirty="0" err="1">
                <a:solidFill>
                  <a:srgbClr val="111827"/>
                </a:solidFill>
              </a:rPr>
              <a:t>проблемы</a:t>
            </a:r>
            <a:r>
              <a:rPr lang="en-US" sz="2000" dirty="0">
                <a:solidFill>
                  <a:srgbClr val="111827"/>
                </a:solidFill>
              </a:rPr>
              <a:t> </a:t>
            </a:r>
            <a:r>
              <a:rPr lang="en-US" sz="2000" dirty="0" err="1">
                <a:solidFill>
                  <a:srgbClr val="111827"/>
                </a:solidFill>
              </a:rPr>
              <a:t>до</a:t>
            </a:r>
            <a:r>
              <a:rPr lang="en-US" sz="2000" dirty="0">
                <a:solidFill>
                  <a:srgbClr val="111827"/>
                </a:solidFill>
              </a:rPr>
              <a:t> </a:t>
            </a:r>
            <a:r>
              <a:rPr lang="en-US" sz="2000" dirty="0" err="1">
                <a:solidFill>
                  <a:srgbClr val="111827"/>
                </a:solidFill>
              </a:rPr>
              <a:t>экспорта</a:t>
            </a:r>
            <a:r>
              <a:rPr lang="en-US" sz="2000" dirty="0">
                <a:solidFill>
                  <a:srgbClr val="111827"/>
                </a:solidFill>
              </a:rPr>
              <a:t>: </a:t>
            </a:r>
            <a:r>
              <a:rPr lang="en-US" sz="2000" dirty="0" err="1">
                <a:solidFill>
                  <a:srgbClr val="111827"/>
                </a:solidFill>
              </a:rPr>
              <a:t>границы</a:t>
            </a:r>
            <a:r>
              <a:rPr lang="en-US" sz="2000" dirty="0">
                <a:solidFill>
                  <a:srgbClr val="111827"/>
                </a:solidFill>
              </a:rPr>
              <a:t>, </a:t>
            </a:r>
            <a:r>
              <a:rPr lang="en-US" sz="2000" dirty="0" err="1">
                <a:solidFill>
                  <a:srgbClr val="111827"/>
                </a:solidFill>
              </a:rPr>
              <a:t>пустой</a:t>
            </a:r>
            <a:r>
              <a:rPr lang="en-US" sz="2000" dirty="0">
                <a:solidFill>
                  <a:srgbClr val="111827"/>
                </a:solidFill>
              </a:rPr>
              <a:t> </a:t>
            </a:r>
            <a:r>
              <a:rPr lang="en-US" sz="2000" dirty="0" err="1">
                <a:solidFill>
                  <a:srgbClr val="111827"/>
                </a:solidFill>
              </a:rPr>
              <a:t>текст,пересечения</a:t>
            </a:r>
            <a:r>
              <a:rPr lang="en-US" sz="2000" dirty="0">
                <a:solidFill>
                  <a:srgbClr val="111827"/>
                </a:solidFill>
              </a:rPr>
              <a:t>, </a:t>
            </a:r>
            <a:r>
              <a:rPr lang="en-US" sz="2000" dirty="0" err="1">
                <a:solidFill>
                  <a:srgbClr val="111827"/>
                </a:solidFill>
              </a:rPr>
              <a:t>термины</a:t>
            </a:r>
            <a:r>
              <a:rPr lang="en-US" sz="2000" dirty="0">
                <a:solidFill>
                  <a:srgbClr val="111827"/>
                </a:solidFill>
              </a:rPr>
              <a:t> и confidence.</a:t>
            </a:r>
            <a:r>
              <a:rPr lang="en-US" sz="2000" b="1" dirty="0">
                <a:solidFill>
                  <a:srgbClr val="111827"/>
                </a:solidFill>
              </a:rPr>
              <a:t> </a:t>
            </a:r>
            <a:endParaRPr lang="ru-RU" sz="1500" dirty="0">
              <a:solidFill>
                <a:srgbClr val="6B7280"/>
              </a:solidFill>
            </a:endParaRPr>
          </a:p>
        </p:txBody>
      </p:sp>
      <p:graphicFrame>
        <p:nvGraphicFramePr>
          <p:cNvPr id="22" name="Chart"/>
          <p:cNvGraphicFramePr/>
          <p:nvPr/>
        </p:nvGraphicFramePr>
        <p:xfrm>
          <a:off x="876300" y="2571750"/>
          <a:ext cx="5048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AFB553-F60D-494E-9637-74E1BE78CF97}"/>
              </a:ext>
            </a:extLst>
          </p:cNvPr>
          <p:cNvSpPr>
            <a:spLocks noGrp="1"/>
          </p:cNvSpPr>
          <p:nvPr/>
        </p:nvSpPr>
        <p:spPr>
          <a:xfrm>
            <a:off x="6991350" y="2914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Автотесты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F78844-4D74-476B-BF4B-5AD72FD43B7D}"/>
              </a:ext>
            </a:extLst>
          </p:cNvPr>
          <p:cNvSpPr>
            <a:spLocks noGrp="1"/>
          </p:cNvSpPr>
          <p:nvPr/>
        </p:nvSpPr>
        <p:spPr>
          <a:xfrm>
            <a:off x="7010400" y="3562350"/>
            <a:ext cx="76200" cy="76200"/>
          </a:xfrm>
          <a:prstGeom prst="rect">
            <a:avLst/>
          </a:prstGeom>
          <a:solidFill>
            <a:srgbClr val="5665D9"/>
          </a:solidFill>
          <a:ln w="0">
            <a:solidFill>
              <a:srgbClr val="5665D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BB56C4-1B60-4B55-ABD6-69C9FC91DA74}"/>
              </a:ext>
            </a:extLst>
          </p:cNvPr>
          <p:cNvSpPr>
            <a:spLocks noGrp="1"/>
          </p:cNvSpPr>
          <p:nvPr/>
        </p:nvSpPr>
        <p:spPr>
          <a:xfrm>
            <a:off x="7219950" y="34671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production build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E82DBC-3840-47FB-8440-FF022A79EDFD}"/>
              </a:ext>
            </a:extLst>
          </p:cNvPr>
          <p:cNvSpPr>
            <a:spLocks noGrp="1"/>
          </p:cNvSpPr>
          <p:nvPr/>
        </p:nvSpPr>
        <p:spPr>
          <a:xfrm>
            <a:off x="7010400" y="3981450"/>
            <a:ext cx="76200" cy="76200"/>
          </a:xfrm>
          <a:prstGeom prst="rect">
            <a:avLst/>
          </a:prstGeom>
          <a:solidFill>
            <a:srgbClr val="168F86"/>
          </a:solidFill>
          <a:ln w="0">
            <a:solidFill>
              <a:srgbClr val="168F8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CDD1826-C561-4315-9361-79001F92BA68}"/>
              </a:ext>
            </a:extLst>
          </p:cNvPr>
          <p:cNvSpPr>
            <a:spLocks noGrp="1"/>
          </p:cNvSpPr>
          <p:nvPr/>
        </p:nvSpPr>
        <p:spPr>
          <a:xfrm>
            <a:off x="7219950" y="38862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backend pytest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542712-8861-48AB-8ED0-1109B59FA43F}"/>
              </a:ext>
            </a:extLst>
          </p:cNvPr>
          <p:cNvSpPr>
            <a:spLocks noGrp="1"/>
          </p:cNvSpPr>
          <p:nvPr/>
        </p:nvSpPr>
        <p:spPr>
          <a:xfrm>
            <a:off x="7010400" y="4400550"/>
            <a:ext cx="76200" cy="76200"/>
          </a:xfrm>
          <a:prstGeom prst="rect">
            <a:avLst/>
          </a:prstGeom>
          <a:solidFill>
            <a:srgbClr val="B97800"/>
          </a:solidFill>
          <a:ln w="0">
            <a:solidFill>
              <a:srgbClr val="B97800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5533466-3C20-4963-84FA-67C29620DD29}"/>
              </a:ext>
            </a:extLst>
          </p:cNvPr>
          <p:cNvSpPr>
            <a:spLocks noGrp="1"/>
          </p:cNvSpPr>
          <p:nvPr/>
        </p:nvSpPr>
        <p:spPr>
          <a:xfrm>
            <a:off x="7219950" y="4305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UI actions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1FEC5D-35CD-4563-8E96-C5587E5DB825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06</a:t>
            </a:r>
            <a:endParaRPr sz="1050" b="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2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8A84B4B-5E50-468F-A67C-BB895060183D}"/>
              </a:ext>
            </a:extLst>
          </p:cNvPr>
          <p:cNvSpPr>
            <a:spLocks noGrp="1"/>
          </p:cNvSpPr>
          <p:nvPr/>
        </p:nvSpPr>
        <p:spPr>
          <a:xfrm>
            <a:off x="5274352" y="608351"/>
            <a:ext cx="1249181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Итог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D383C5-72CB-4FC2-87E8-E85BEF27172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8191500" cy="2473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0">
                <a:solidFill>
                  <a:srgbClr val="111827"/>
                </a:solidFill>
              </a:defRPr>
            </a:pPr>
            <a:r>
              <a:rPr lang="en-US" sz="2250" b="1" dirty="0" err="1">
                <a:solidFill>
                  <a:srgbClr val="111827"/>
                </a:solidFill>
                <a:ea typeface="+mn-lt"/>
                <a:cs typeface="+mn-lt"/>
              </a:rPr>
              <a:t>Что</a:t>
            </a:r>
            <a:r>
              <a:rPr lang="en-US" sz="2250" b="1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b="1" dirty="0" err="1">
                <a:solidFill>
                  <a:srgbClr val="111827"/>
                </a:solidFill>
                <a:ea typeface="+mn-lt"/>
                <a:cs typeface="+mn-lt"/>
              </a:rPr>
              <a:t>мы</a:t>
            </a:r>
            <a:r>
              <a:rPr lang="en-US" sz="2250" b="1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b="1" dirty="0" err="1">
                <a:solidFill>
                  <a:srgbClr val="111827"/>
                </a:solidFill>
                <a:ea typeface="+mn-lt"/>
                <a:cs typeface="+mn-lt"/>
              </a:rPr>
              <a:t>реализовали</a:t>
            </a:r>
            <a:r>
              <a:rPr lang="en-US" sz="2250" b="1" dirty="0">
                <a:solidFill>
                  <a:srgbClr val="111827"/>
                </a:solidFill>
                <a:ea typeface="+mn-lt"/>
                <a:cs typeface="+mn-lt"/>
              </a:rPr>
              <a:t>:</a:t>
            </a:r>
            <a:endParaRPr lang="ru-RU" dirty="0" err="1"/>
          </a:p>
          <a:p>
            <a:pPr>
              <a:defRPr sz="2250" b="0">
                <a:solidFill>
                  <a:srgbClr val="111827"/>
                </a:solidFill>
              </a:defRPr>
            </a:pP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Полный</a:t>
            </a: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цикл</a:t>
            </a: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разметки</a:t>
            </a:r>
            <a:br>
              <a:rPr lang="en-US" sz="2250" dirty="0">
                <a:ea typeface="+mn-lt"/>
                <a:cs typeface="+mn-lt"/>
              </a:rPr>
            </a:b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Автосохранение</a:t>
            </a:r>
            <a:b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</a:b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Верификацию</a:t>
            </a:r>
            <a:b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</a:b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Экспорт</a:t>
            </a: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JSON</a:t>
            </a:r>
            <a:b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</a:b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Удобный</a:t>
            </a:r>
            <a:r>
              <a:rPr lang="en-US" sz="225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2250" dirty="0" err="1">
                <a:solidFill>
                  <a:srgbClr val="111827"/>
                </a:solidFill>
                <a:ea typeface="+mn-lt"/>
                <a:cs typeface="+mn-lt"/>
              </a:rPr>
              <a:t>интерфейс</a:t>
            </a:r>
            <a:endParaRPr lang="ru-RU" dirty="0" err="1"/>
          </a:p>
          <a:p>
            <a:pPr algn="l">
              <a:defRPr sz="2250" b="0">
                <a:solidFill>
                  <a:srgbClr val="111827"/>
                </a:solidFill>
              </a:defRPr>
            </a:pPr>
            <a:endParaRPr sz="2250" b="0" dirty="0">
              <a:solidFill>
                <a:srgbClr val="111827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895543-3766-41C0-BDED-681CF4FAF40F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lang="ru-RU" sz="1050">
                <a:solidFill>
                  <a:srgbClr val="6B7280"/>
                </a:solidFill>
              </a:rPr>
              <a:t>07</a:t>
            </a:r>
          </a:p>
          <a:p>
            <a:pPr algn="r">
              <a:defRPr sz="1050" b="0">
                <a:solidFill>
                  <a:srgbClr val="6B7280"/>
                </a:solidFill>
              </a:defRPr>
            </a:pPr>
            <a:endParaRPr lang="ru-RU" sz="1050" dirty="0">
              <a:solidFill>
                <a:srgbClr val="6B728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11576-D297-B4CF-BC1F-AB5CF8D1A718}"/>
              </a:ext>
            </a:extLst>
          </p:cNvPr>
          <p:cNvSpPr txBox="1"/>
          <p:nvPr/>
        </p:nvSpPr>
        <p:spPr>
          <a:xfrm>
            <a:off x="632909" y="4042448"/>
            <a:ext cx="93507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Спасибо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11669553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7</Slides>
  <Notes>7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99</cp:revision>
  <dcterms:created xsi:type="dcterms:W3CDTF">2026-07-11T20:29:00Z</dcterms:created>
  <dcterms:modified xsi:type="dcterms:W3CDTF">2026-07-12T15:27:32Z</dcterms:modified>
</cp:coreProperties>
</file>